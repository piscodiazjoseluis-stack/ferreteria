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9580c838ce4fad" /><Relationship Type="http://schemas.openxmlformats.org/officeDocument/2006/relationships/extended-properties" Target="/docProps/app.xml" Id="R7eeb12243ef84567" /><Relationship Type="http://schemas.openxmlformats.org/officeDocument/2006/relationships/officeDocument" Target="/ppt/presentation.xml" Id="R0528e61f04d541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78537e0d2e4883"/>
  </p:sldMasterIdLst>
  <p:notesMasterIdLst>
    <p:notesMasterId xmlns:r="http://schemas.openxmlformats.org/officeDocument/2006/relationships" r:id="R0633410b219b43f1"/>
  </p:notesMasterIdLst>
  <p:sldIdLst>
    <p:sldId xmlns:r="http://schemas.openxmlformats.org/officeDocument/2006/relationships" id="256" r:id="R1c89a17aecd54c27"/>
    <p:sldId xmlns:r="http://schemas.openxmlformats.org/officeDocument/2006/relationships" id="257" r:id="Rd414c467aec2478d"/>
    <p:sldId xmlns:r="http://schemas.openxmlformats.org/officeDocument/2006/relationships" id="258" r:id="R7f3fb2dec7be4c23"/>
    <p:sldId xmlns:r="http://schemas.openxmlformats.org/officeDocument/2006/relationships" id="259" r:id="R816c1f1b2328437e"/>
    <p:sldId xmlns:r="http://schemas.openxmlformats.org/officeDocument/2006/relationships" id="260" r:id="Rf381a4f1277046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a33a298fbc45c9" /><Relationship Type="http://schemas.openxmlformats.org/officeDocument/2006/relationships/slideMaster" Target="/ppt/slideMasters/slideMaster1.xml" Id="Rde78537e0d2e4883" /><Relationship Type="http://schemas.openxmlformats.org/officeDocument/2006/relationships/notesMaster" Target="/ppt/notesMasters/notesMaster1.xml" Id="R0633410b219b43f1" /><Relationship Type="http://schemas.openxmlformats.org/officeDocument/2006/relationships/presProps" Target="/ppt/presProps.xml" Id="R051cf60b49f64500" /><Relationship Type="http://schemas.openxmlformats.org/officeDocument/2006/relationships/tableStyles" Target="/ppt/tableStyles.xml" Id="R6076d4c7a2dd4d1a" /><Relationship Type="http://schemas.openxmlformats.org/officeDocument/2006/relationships/slide" Target="/ppt/slides/slide1.xml" Id="R1c89a17aecd54c27" /><Relationship Type="http://schemas.openxmlformats.org/officeDocument/2006/relationships/slide" Target="/ppt/slides/slide2.xml" Id="Rd414c467aec2478d" /><Relationship Type="http://schemas.openxmlformats.org/officeDocument/2006/relationships/slide" Target="/ppt/slides/slide3.xml" Id="R7f3fb2dec7be4c23" /><Relationship Type="http://schemas.openxmlformats.org/officeDocument/2006/relationships/slide" Target="/ppt/slides/slide4.xml" Id="R816c1f1b2328437e" /><Relationship Type="http://schemas.openxmlformats.org/officeDocument/2006/relationships/slide" Target="/ppt/slides/slide5.xml" Id="Rf381a4f1277046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93c3caa4a148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745628a4234e4b" /><Relationship Type="http://schemas.openxmlformats.org/officeDocument/2006/relationships/notesMaster" Target="/ppt/notesMasters/notesMaster1.xml" Id="R2e70ab798b874b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ae5f61899d40db" /><Relationship Type="http://schemas.openxmlformats.org/officeDocument/2006/relationships/notesMaster" Target="/ppt/notesMasters/notesMaster1.xml" Id="R958493a0a65c4a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dc5b911d5d4df9" /><Relationship Type="http://schemas.openxmlformats.org/officeDocument/2006/relationships/notesMaster" Target="/ppt/notesMasters/notesMaster1.xml" Id="R0dd5bfe930704f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256fedfafe4330" /><Relationship Type="http://schemas.openxmlformats.org/officeDocument/2006/relationships/notesMaster" Target="/ppt/notesMasters/notesMaster1.xml" Id="R475079e763cb48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e855df092b4e5a" /><Relationship Type="http://schemas.openxmlformats.org/officeDocument/2006/relationships/notesMaster" Target="/ppt/notesMasters/notesMaster1.xml" Id="R2c748c8052f249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José Luis, 15 segundos. Presentar el primer avance y el foco en venta e inventario. El informe identifica el nombre comercial; el título del curso se toma de la sección 11.3. El nombre de la profesora no aparece en el informe suministrado. Imagen generada como ilustración conceptual, no como fotografía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Jesús, 35 segundos. Explicar los problemas P1, P5 y P7 de la sección 10 del informe. No atribuir cifras logradas al software. Imagen generada, ilustrativa.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José Luis, 30 segundos. Es un resumen analítico de la realidad problemática, no una observación directa de cada venta. El informe dice que el cuaderno/Excel no se actualiza con cada venta y que hay varias listas de precios. Fuente: sección 10 P1/P5; sección 11.1 tabla AS-IS/TO-BE.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Jesús, 35 segundos. Describir solo lo implementado y probado en React/FastAPI/Supabase. El reporte propone ocho módulos, pero este primer avance se concentra en POS, inventario, catálogo interno, gerencia y seguridad. No afirmar que ya funcionan matizado, compras, catálogo público o facturación SUNAT. Fuente: código frontend/src/Workspace.tsx, Sales.tsx; backend/app; docs/paso-9.md y validacion-final.md.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José Luis, 25 segundos. Explicar la relación entre problema y función implementada. Después inicia el video de aproximadamente siete minutos. El vendedor registra una unidad de PIN-001 y el gerente repone tres, si los saldos del día de grabación lo permiten. Fuente: flujo verificado en docs/validacion-final.md y comportamiento actual del sistema.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b82dfbf7c4b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d8d4010451425e" /><Relationship Type="http://schemas.openxmlformats.org/officeDocument/2006/relationships/slideLayout" Target="/ppt/slideLayouts/slideLayout1.xml" Id="R47cb00d66af74a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cb00d66af74a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29c2158a245b6" /><Relationship Type="http://schemas.openxmlformats.org/officeDocument/2006/relationships/image" Target="/ppt/media/image.png" Id="Rac6148c419d7460f" /><Relationship Type="http://schemas.openxmlformats.org/officeDocument/2006/relationships/notesSlide" Target="/ppt/notesSlides/notesSlide1.xml" Id="Rd86be4ec7e9c49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f2607eb1c4e2e" /><Relationship Type="http://schemas.openxmlformats.org/officeDocument/2006/relationships/image" Target="/ppt/media/image2.png" Id="R0c5b97ecabe945c5" /><Relationship Type="http://schemas.openxmlformats.org/officeDocument/2006/relationships/notesSlide" Target="/ppt/notesSlides/notesSlide2.xml" Id="Rd1d49037003a47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fd163b6624f99" /><Relationship Type="http://schemas.openxmlformats.org/officeDocument/2006/relationships/notesSlide" Target="/ppt/notesSlides/notesSlide3.xml" Id="R1345d19ae04745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45458347344c4" /><Relationship Type="http://schemas.openxmlformats.org/officeDocument/2006/relationships/notesSlide" Target="/ppt/notesSlides/notesSlide4.xml" Id="R01a33d73c19f45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1d97606c04106" /><Relationship Type="http://schemas.openxmlformats.org/officeDocument/2006/relationships/notesSlide" Target="/ppt/notesSlides/notesSlide5.xml" Id="Rb93e02d5b3ae4a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148c419d7460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416E4-28A8-4B05-A5D0-070FB156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AD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ADC"/>
                </a:solidFill>
                <a:latin typeface="Arial"/>
                <a:ea typeface="Arial"/>
                <a:cs typeface="Arial"/>
              </a:rPr>
              <a:t>PRIMER AVANCE  ·  27 DE SEPTIEMBRE DE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42275-72B4-4C35-85A0-043F6DB4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542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Ferretería y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Matizados Miguel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7D8C1-7ED6-49AB-A351-471AE3D6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1F1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1F1E6"/>
                </a:solidFill>
                <a:latin typeface="Arial"/>
                <a:ea typeface="Arial"/>
                <a:cs typeface="Arial"/>
              </a:rPr>
              <a:t>Del cuaderno y Excel al control digital</a:t>
            </a:r>
          </a:p>
          <a:p xmlns:a="http://schemas.openxmlformats.org/drawingml/2006/main">
            <a:pPr algn="l">
              <a:defRPr sz="1800" b="0">
                <a:solidFill>
                  <a:srgbClr val="E1F1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1F1E6"/>
                </a:solidFill>
                <a:latin typeface="Arial"/>
                <a:ea typeface="Arial"/>
                <a:cs typeface="Arial"/>
              </a:rPr>
              <a:t>de ventas e inventario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F1FC8-31DF-4782-9DFA-B5FEC72D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José Luis Pisco Díaz   ·   Jesús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63B54-5D67-4D80-A382-8820BB33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9DC"/>
                </a:solidFill>
                <a:latin typeface="Arial"/>
                <a:ea typeface="Arial"/>
                <a:cs typeface="Arial"/>
              </a:rPr>
              <a:t>Evolución y Configuración de Software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13E2E-9785-4B34-8805-D023D91B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48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E7EEE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E7EEE6"/>
                </a:solidFill>
                <a:latin typeface="Arial"/>
                <a:ea typeface="Arial"/>
                <a:cs typeface="Arial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739505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b97ecabe945c5"/>
          <a:srcRect xmlns:a="http://schemas.openxmlformats.org/drawingml/2006/main" l="28113" t="0" r="28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388A2-8136-4546-85C1-5B7D6E3A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9600"/>
            <a:ext cx="514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785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7859"/>
                </a:solidFill>
                <a:latin typeface="Arial"/>
                <a:ea typeface="Arial"/>
                <a:cs typeface="Arial"/>
              </a:rPr>
              <a:t>EL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9B32A-9A43-4DD4-B01B-2073E1C8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057275"/>
            <a:ext cx="5381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Los registros no seguían</a:t>
            </a:r>
          </a:p>
          <a:p xmlns:a="http://schemas.openxmlformats.org/drawingml/2006/main">
            <a:pPr algn="l">
              <a:defRPr sz="322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el ritmo de la venta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A5BF8-7781-4D35-BAD3-9E67F5FC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1B4ED-58E6-476A-87EF-30D09D9A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9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P1  Inventario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51A7C-43D8-47CB-A92F-03E6D29E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7180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Cuaderno y Excel no se actualizaban con cada venta.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09231-D54E-4D2D-9289-824330DA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19123-274F-4C77-ADE5-19C07A61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P5  Precios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000CF-E555-44C8-A592-CC6387D6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5290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Varias listas podían generar cotizaciones distintas.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EB305-3717-49A5-AFE8-ADEAEC09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815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621EE-86E6-4164-9F15-48472589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72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P7  Decisiones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63518-9214-4459-9A7D-196DED9C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34000"/>
            <a:ext cx="5286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Faltaban registros confiables para revisar la operación.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35333-EAA4-43B0-A12D-745C3AFF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72225"/>
            <a:ext cx="528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Fuente: informe del proyecto, sección 10.</a:t>
            </a:r>
          </a:p>
        </p:txBody>
      </p:sp>
    </p:spTree>
    <p:extLst>
      <p:ext uri="{BB962C8B-B14F-4D97-AF65-F5344CB8AC3E}">
        <p14:creationId xmlns:p14="http://schemas.microsoft.com/office/powerpoint/2010/main" val="914226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11C77B-9FF8-4197-AB5A-A7399020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5D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5D40"/>
                </a:solidFill>
                <a:latin typeface="Arial"/>
                <a:ea typeface="Arial"/>
                <a:cs typeface="Arial"/>
              </a:rPr>
              <a:t>ANTES  ·  PROCESO RESUMIDO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3257F-7791-495A-9E01-89B308A5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Una venta dejaba tareas pendientes en otros registros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2BF6E-EB9A-4B30-B1A7-8E8D973D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971675" cy="1752600"/>
          </a:xfrm>
          <a:prstGeom xmlns:a="http://schemas.openxmlformats.org/drawingml/2006/main" prst="roundRect">
            <a:avLst>
              <a:gd name="adj" fmla="val 706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8D6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CFAFA-92B2-4A15-8A54-9274774C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19350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D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5D4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CA72F-02E7-434C-9755-331D44AD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9082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Pedido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BF650-DC95-42BA-8147-9EAC7E15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051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El cliente solicita un producto.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D8E7C-DD06-48E6-895F-7590D6F3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95D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95D4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03F6E-E480-4281-9013-0BA24815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1971675" cy="1752600"/>
          </a:xfrm>
          <a:prstGeom xmlns:a="http://schemas.openxmlformats.org/drawingml/2006/main" prst="roundRect">
            <a:avLst>
              <a:gd name="adj" fmla="val 706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8D6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65BFF-85FB-4A51-8A1D-44A311B5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19350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D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5D4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991A8-6C2A-4C23-849A-AFA7FE64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9082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Consultar stock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49F04-D010-41C2-B4CB-23EBB6C1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3051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Revisar cuaderno o Excel.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AE712-88E5-4265-9052-FF59B251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76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95D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95D4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6D6BA-D5DB-4C9F-A7D6-50F332EF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47900"/>
            <a:ext cx="1971675" cy="1752600"/>
          </a:xfrm>
          <a:prstGeom xmlns:a="http://schemas.openxmlformats.org/drawingml/2006/main" prst="roundRect">
            <a:avLst>
              <a:gd name="adj" fmla="val 706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8D6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80758-9CF4-4AEB-95B3-948020D7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19350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D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5D4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6E0B8-A52F-4F7F-A9AE-B23EA45C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9082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Buscar precio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58F7B-A9CB-4A9B-893B-67C0EB87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051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Comparar listas vigentes.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F5C19-0029-4278-B652-9377A833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95D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95D4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713E4-D93A-4D8B-B3FE-F719EC6A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1971675" cy="1752600"/>
          </a:xfrm>
          <a:prstGeom xmlns:a="http://schemas.openxmlformats.org/drawingml/2006/main" prst="roundRect">
            <a:avLst>
              <a:gd name="adj" fmla="val 706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8D6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CFD0C1-6464-4C49-B028-EF109BD8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19350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D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5D4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367B8-5E5C-480A-9362-99FA0E88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9082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Registrar venta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A3F1F-0A1D-43A2-9773-3AD3292D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051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Anotar el cobro.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B813DD-FB4D-49D3-8629-4C4F1909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76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95D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95D4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957BD-454D-48EC-B8B7-329A1DEF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971675" cy="1752600"/>
          </a:xfrm>
          <a:prstGeom xmlns:a="http://schemas.openxmlformats.org/drawingml/2006/main" prst="roundRect">
            <a:avLst>
              <a:gd name="adj" fmla="val 706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8D6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AD2D17-FED1-4DC4-A195-72286766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419350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D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5D4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2CF74-47CF-4E6F-B565-4F2CD102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79082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Actualizar stock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047575-D50F-425F-9944-356E7469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3051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Descontar después en otro registro.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1FD12D-C870-471A-9DA8-0ECF3405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D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5D40"/>
                </a:solidFill>
                <a:latin typeface="Arial"/>
                <a:ea typeface="Arial"/>
                <a:cs typeface="Arial"/>
              </a:rPr>
              <a:t>RIESGO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6E4855-2407-472C-B031-9B465016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92F"/>
                </a:solidFill>
                <a:latin typeface="Arial"/>
                <a:ea typeface="Arial"/>
                <a:cs typeface="Arial"/>
              </a:rPr>
              <a:t>Entre la venta y la actualización manual, la cifra disponible podía quedar desfasada.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634A20-A74D-442C-8DCB-75F34C63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Reconstrucción del flujo a partir de P1, P5 y la tabla AS-IS del informe.</a:t>
            </a:r>
          </a:p>
        </p:txBody>
      </p:sp>
    </p:spTree>
    <p:extLst>
      <p:ext uri="{BB962C8B-B14F-4D97-AF65-F5344CB8AC3E}">
        <p14:creationId xmlns:p14="http://schemas.microsoft.com/office/powerpoint/2010/main" val="11052233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329E8-BBBE-46DD-92DE-5B2904EE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AD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ADC"/>
                </a:solidFill>
                <a:latin typeface="Arial"/>
                <a:ea typeface="Arial"/>
                <a:cs typeface="Arial"/>
              </a:rPr>
              <a:t>PROPUESTA IMPLEMENTADA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8579C-94F1-4E88-9327-F39D4A42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aplicación, dos perfiles, un precio vigente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1CB94-26E8-4ED2-AC69-21570E0A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95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7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1967E-4945-4D38-A8A7-AAD53C4A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812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DF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DFC0"/>
                </a:solidFill>
                <a:latin typeface="Arial"/>
                <a:ea typeface="Arial"/>
                <a:cs typeface="Arial"/>
              </a:rPr>
              <a:t>VENDEDOR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DAE7D-1FBD-4D34-87A5-518D3979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860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Consulta precio y disponibilidad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D81DC-F1F3-4888-9E1E-02C277F2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908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Registra la venta al contado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91C42-2CC2-4190-B5A5-B5C67FAD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6957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 sus propios comprobantes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6DECF-39BA-4A43-AC3A-5D592E65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71700"/>
            <a:ext cx="95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7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5B6DF-9048-4E4A-863C-C3801FD6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DF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DFC0"/>
                </a:solidFill>
                <a:latin typeface="Arial"/>
                <a:ea typeface="Arial"/>
                <a:cs typeface="Arial"/>
              </a:rPr>
              <a:t>GERENTE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FF85F-C3C6-4611-9981-25B1CC83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 productos y precios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B9747-422C-4EE4-A1F2-24C4FBFA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Registra entradas y ajustes con motivo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A9856-0185-4599-B550-FC712A80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Supervisa ventas y alertas de stock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BEBBC-8491-4527-922F-E19F9734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820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7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17998-98F2-4746-90A5-9BB647BA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6825"/>
            <a:ext cx="1033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 confirmar una venta, el sistema guarda el comprobante y descuenta el inventario.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CD1A0-6588-4823-9F47-D4BC5E44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1E5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E5D8"/>
                </a:solidFill>
                <a:latin typeface="Arial"/>
                <a:ea typeface="Arial"/>
                <a:cs typeface="Arial"/>
              </a:rPr>
              <a:t>Primer avance funcional: venta de mostrador e inventario. Otros módulos del informe quedan para después.</a:t>
            </a:r>
          </a:p>
        </p:txBody>
      </p:sp>
    </p:spTree>
    <p:extLst>
      <p:ext uri="{BB962C8B-B14F-4D97-AF65-F5344CB8AC3E}">
        <p14:creationId xmlns:p14="http://schemas.microsoft.com/office/powerpoint/2010/main" val="1173033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692DA-407C-42C8-AA5F-EF292AA0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785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7859"/>
                </a:solidFill>
                <a:latin typeface="Arial"/>
                <a:ea typeface="Arial"/>
                <a:cs typeface="Arial"/>
              </a:rPr>
              <a:t>AHORA  ·  PROCESO EN EL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46F11-6716-435F-9946-EC8C1C63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La venta actualiza el inventario en el mismo paso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C969A-99F7-4648-8B8D-FEA97DCD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971675" cy="1752600"/>
          </a:xfrm>
          <a:prstGeom xmlns:a="http://schemas.openxmlformats.org/drawingml/2006/main" prst="roundRect">
            <a:avLst>
              <a:gd name="adj" fmla="val 706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8D6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FD477-6545-4286-8CB3-7B920B17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19350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8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78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6E6D9-272B-46C4-AEEA-EAC2E5F8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9082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Ingreso por 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088E8-0BE4-4BE5-AAEC-FD211E2F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051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Cada usuario ve sus acciones.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1B75A-EAF5-4FBC-94DB-9ECBBE26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78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785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32FE2-5A42-4CFA-A775-FB0E7482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1971675" cy="1752600"/>
          </a:xfrm>
          <a:prstGeom xmlns:a="http://schemas.openxmlformats.org/drawingml/2006/main" prst="roundRect">
            <a:avLst>
              <a:gd name="adj" fmla="val 706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8D6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51866-505D-4E41-92AC-26A6AE86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19350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8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78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8DB8A-7C61-4B22-9C90-CFA276A0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9082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Precio y stock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E2F8E-7C6F-4047-B203-E884D065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3051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Una ficha vigente para vender.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6CCB0-6B90-4FAD-B6B5-33F93F97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76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78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785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2C445-C9A4-4151-98DA-0FC71774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47900"/>
            <a:ext cx="1971675" cy="1752600"/>
          </a:xfrm>
          <a:prstGeom xmlns:a="http://schemas.openxmlformats.org/drawingml/2006/main" prst="roundRect">
            <a:avLst>
              <a:gd name="adj" fmla="val 706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8D6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CE2D9-ACA3-491C-A312-368CCD35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19350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8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78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BDFD9-6EBD-4022-BB95-94CA4F17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9082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Confirmar venta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53785-A3E5-4349-9BDF-4CFFDC5A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051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Total y medio de pago.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CFC76-4D9D-4142-B147-4B66853B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78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785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DBCF5-ED41-426E-AFBA-5D6793C4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1971675" cy="1752600"/>
          </a:xfrm>
          <a:prstGeom xmlns:a="http://schemas.openxmlformats.org/drawingml/2006/main" prst="roundRect">
            <a:avLst>
              <a:gd name="adj" fmla="val 706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8D6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F2066-EAF0-4686-83B6-D05BE67E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19350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8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78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185EF-2A8F-4A2E-9CEB-B67EBC50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9082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Guardar y descontar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D07CB-C2DE-40CE-A086-ADB39480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051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Comprobante y movimiento.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C9402-8D8D-424C-BF4B-6FFBA30E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76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78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785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6B8FE-40AE-494C-99AE-B09574C4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971675" cy="1752600"/>
          </a:xfrm>
          <a:prstGeom xmlns:a="http://schemas.openxmlformats.org/drawingml/2006/main" prst="roundRect">
            <a:avLst>
              <a:gd name="adj" fmla="val 706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8D6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21E32-5702-4345-85DC-4BA75851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419350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8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78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03556-C367-40B5-91C2-F308344B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79082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Supervisar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5E0387-4657-4573-9AC9-FF4A02F3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3051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Alerta y reposición con motivo.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3F3AA4-CB55-4E67-A20C-78E78880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0820400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D7E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ABE72F-8547-4927-AA74-1C703FC9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1033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92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392F"/>
                </a:solidFill>
                <a:latin typeface="Arial"/>
                <a:ea typeface="Arial"/>
                <a:cs typeface="Arial"/>
              </a:rPr>
              <a:t>En el video: una pintura sale del stock por venta; el gerente ve la alerta y registra la reposición.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593C27-A810-4FAA-A598-258C6063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16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167"/>
                </a:solidFill>
                <a:latin typeface="Arial"/>
                <a:ea typeface="Arial"/>
                <a:cs typeface="Arial"/>
              </a:rPr>
              <a:t>Primer avance listo para demostrar la mejora; no implica que el proyecto completo esté terminado.</a:t>
            </a:r>
          </a:p>
        </p:txBody>
      </p:sp>
    </p:spTree>
    <p:extLst>
      <p:ext uri="{BB962C8B-B14F-4D97-AF65-F5344CB8AC3E}">
        <p14:creationId xmlns:p14="http://schemas.microsoft.com/office/powerpoint/2010/main" val="1681026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2026-09-26T00:23:43.3140000Z</dcterms:created>
  <dcterms:modified xsi:type="dcterms:W3CDTF">2026-09-26T00:23:43.3140000Z</dcterms:modified>
</coreProperties>
</file>